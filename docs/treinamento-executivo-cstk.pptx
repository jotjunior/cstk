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Enquadre a sessão: isto não é um curso de programação — é um treinamento de método. A promessa: quem entende profundamente do próprio negócio consegue conduzir a construção de software de complexidade até média, com segurança e auditoria embutidas. Duração prevista: 60 a 90 minutos, com demonstração ao vivo na parte final. Peça que segurem perguntas técnicas profundas para 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o experimento com detalhes: quem eram os dois perfis, o que construíram, quanto tempo levou. Reforce que a segurança (OWASP) e a privacidade (LGPD) vieram do método, não do conhecimento técnico deles. Feche com o objetivo do treinamento: sair daqui sabendo escrever a entrada certa, operar o ciclo e envolver o time de TI na hora certa — não sabendo programar. Deixe claro desde já: o território natural do CSTK é a prova de conceito e o MVP; produto em produção é parceria com a 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de mudança de mentalidade. O público conhece tecnologia — o ponto é que a barreira da sintaxe caiu. Contraste os dois lados: no caminho tradicional o conhecimento do negócio se dilui em traduções; com o orquestrador, ele entra direto no sistema. Antecipe a pergunta “então não preciso mais de desenvolvedores?”: precisa — para produção, revisão e evolução séria. O que muda é onde começa a conversa.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três camadas sem aprofundar tecnicamente. A mensagem: existe uma trilha básica (skills soltas) e uma trilha avançada (orquestradores). Este treinamento foca a avançada porque é a que permite conduzir um projeto inteiro sem conhecimento profundo de programação. Mencione que é open source, licença MIT, mantido no GitHub — sem custo de licenciamento; o custo operacional é a assinatura do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Transição: “antes de operar a máquina, entenda o método que ela segue”. Avise que os nomes das etapas aparecem em inglês porque são comandos do sistema, mas cada uma será traduzida para o vocabulário de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analogia da obra até o fim: briefing = programa de necessidades; constituição = código de obras; spec = projeto arquitetônico; plan = projeto executivo; tasks = cronograma; execute = obra com fiscalização. Ponto-chave para executivos: o método força clareza ANTES do custo. Mudar uma frase na especificação custa minutos; mudar software pronto custa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as 10 caixas — escolha 3 para comentar: briefing (onde o conhecimento de vocês entra), clarify (o agente pergunta em vez de supor) e checklist (qualidade do requisito, não do código: “testes unitários para português”). Mensagem central: é o mesmo rigor de uma consultoria séria, executado por um agente que não pula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pelos momentos de negócio: nascimento do produto (agente-00c) versus evolução contínua (feature-00c). O feature-00c exige que o projeto tenha briefing e constituição ratificados — ele valida isso antes de começar e se recusa a rodar sem essa base. Se perguntarem sobre projetos legados sem documentação: existe caminho (initialize-docs + briefing retroativo), mas é assunto para acompanhamento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onda como “um turno de trabalho”: o agente acorda, lê onde parou, avança uma etapa, valida, registra e agenda o próximo turno. Destaque o roteamento de modelos como decisão de custo: na execução de referência, o modelo mais caro rodou só em 2 de 13 ondas (princípios e plano técnico); a revisão final rodou no mais barato. Os freios automáticos respondem à ansiedade clássica de executivo: “e se ele sair do controle?” — ele para sozinho e explica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define o papel do público: vocês são o comitê de decisão do agente. Os três gatilhos de pausa mostram maturidade do método: efeitos colaterais, segurança e integridade factual — o agente prefere perguntar a supor. Use o caso real dos 313 segundos para mostrar a dinâmica: pergunta objetiva, resposta curta, execução segue. Deixe claro que responder rápido é parte do trabalho do operador.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o coração do treinamento: a habilidade que diferencia quem opera bem. Frase de efeito sugerida: “o agente não falha por falta de inteligência; falha por falta de contexto — e contexto é com vocês”.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as 5 seções essenciais com exemplos falados do setor da plateia. Venda o template como ferramenta de reunião: dá para preencher em uma hora de conversa com a equipe, antes de abrir qualquer ferramenta. Detalhe importante: campos deixados como “a definir” não travam o fluxo — viram pendências registradas. O que trava projeto é o que não foi 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frase vaga em voz alta e pergunte à plateia o que falta nela — deixe que percebam sozinhos (preço por cliente? estoque? quem aprova?). Depois mostre o lado rico: são 5 linhas, não 5 páginas. Riqueza é precisão, não volume. Feche com a régua: cada pergunta que o agente não precisa fazer é onda a menos, custo a menos e um mal-entendido a menos.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do treinamento. Se a plateia levar uma única ideia, é esta: o orquestrador rende em escopo delimitado e sangra em escopo aberto. Traduza para a linguagem de portfólio: em vez de um projeto guarda-chuva de 6 meses, uma sequência de entregas de 3 a 5 funcionalidades. O contraste de números embaixo é proposital: mesmo método, mesma ferramenta — a diferença foi 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argumento número um do CSTK: o projeto nasce documentado, com segurança (OWASP) e proteção de dados (LGPD) como premissas — não como etapas posteriores. Destaque o card âmbar: a documentação completa é o que transforma a POC em uma conversa produtiva com o time de TI — um dossiê, não uma ideia solta. O gate OWASP é bloqueante (não é sugestão) e as guardas são aplicadas por mecanismo — não dependem de o agente “lembrar” da regra. E seja honesto com o disclaimer final — isso aumenta a credibilidade de tudo o que veio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card da esquerda como “a unidade mínima de confiança”: toda decisão relevante tem esse formato — o exemplo é ilustrativo, mas fiel à estrutura real. A memória entre projetos é um ativo organizacional: quanto mais a empresa executa, mais contexto acumulado os próximos projetos herdam. Para quem lida com auditoria e compliance: a pergunta “por que a IA fez X?” tem resposta registrada, com data e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Transição: “agora, a prova”. Avise que os números a seguir foram registrados automaticamente pelo próprio sistema durante execuções reais — inclusive os ruins. Isso prepara a credibilidade da demo que vem na 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 tabela linha a linha, devagar — são os números que sustentam a promessa do treinamento. Destaque a proporção decisões/ondas: dezenas de decisões documentadas por execução, todas com justificativa. Não esconda a última linha: anuncie que ela é o próximo slide. Transparência aqui compra confiança para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como história: um escopo guarda-chuva, dezenas de frentes, e o agente obedientemente tentando dar conta de tudo. Os sinais de alerta são o sistema funcionando: ele detectou estouro de orçamento, repetição circular e desvio — e abortou com registro. A moral espelha o slide 14: mesmo agente, mesmo método; o que mudou foi a qualidade do pedido. Esta é a responsabilidade que fica com a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limitações com a mesma energia dos benefícios — é isso que diferencia treinamento de venda. A limitação mais relevante para executivos é a terceira: o orquestrador precisa de um operador presente nos momentos de pausa. Combine expectativa: sessões de trabalho, não magia noturna. Feche no card verde: o encaixe ideal são as validações e POCs que hoje nem chegam a entrar na fila de projetos — e emende no próximo slide, que define onde o time de TI entra.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desfaz o mal-entendido mais perigoso do treinamento: o CSTK não substitui o time de TI. A visão de negócio prova o conceito e a necessidade — é para isso que o orquestrador rende. Questões técnicas e arquiteturais devem ser alinhadas com a TI desde cedo (inclusive a stack, já no briefing); evolução e escala exigem análise e acompanhamento técnico contínuos. O diferencial: a conversa com a TI não começa do zero — começa com o dossiê completo que o método produz sozinho, já revisado contra OWASP e LGPD. Sugira o gesto concreto: convidar alguém da TI para a primeira POC acompanhada.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sair dos slides, mostre o briefing JÁ preenchido — a demo começa com a lição da Parte 2 aplicada. Prepare um plano B: se a rede ou o agente atrasar, tenha uma execução anterior gravada ou o painel com dados históricos abertos. Durante a demo, narre nos termos deste deck: “isto é uma onda”, “isto é um gate”, “isto é um bloqueio humano”.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 slide projetado ou distribuído enquanto a demo roda — ele transforma espectadores em avaliadores. Cada item conecta a um conceito já apresentado: briefing rico, decisões auditáveis, gates, bloqueio humano e relatório. Depois da demo, volte aqui e pergunte: “quem observou os cinco?” — é o gancho perfeito para a sessão de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Dessacralize a instalação: são dois comandos, e o time de TI faz em minutos — o público não precisa decorar nada disso. A trilha básica é o aquecimento perfeito: valor imediato (especificar, revisar segurança, pedir conselho) sem operar o ciclo completo. Sugira agendar a primeira POC como sessão acompanhada de meio período, com um problema real e o briefing preenchido de véspera.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para fotografarem. Seis práticas, todas já justificadas ao longo do treinamento — aqui apenas consolidadas. Se houver tempo, peça que cada participante escolha a prática que mais teme negligenciar — costuma render conversa boa sobre fora-de-escopo e latência de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as três mensagens, sem pressa — elas resumem o treinamento inteiro. A chamada para ação é concreta: cada participante sai com a tarefa de trazer um problema real e um briefing preenchido para a POC acompanhada. Abra para perguntas e ofereça o template de briefing por e-mail na 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01368" y="603504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54096" y="603504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306824" y="603504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59552" y="603504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603504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65008" y="603504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17736" y="603504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70464" y="603504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704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EXECUTIVO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14630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CSTK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conhecimento de negócio ao software auditável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especialistas de negócio tiram provas de conceito e MVPs do papel com o orquestrador autônomo do Claude Code Toolkit — projetos que nascem documentados, seguros (OWASP) e em conformidade (LGPD).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 Júnior</a:t>
            </a:r>
            <a:pPr indent="0" marL="0">
              <a:buNone/>
            </a:pPr>
            <a:r>
              <a:rPr lang="en-US" sz="12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jot@jot.com.br   ·   Julho de 2026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Licença MIT · github.com/JotJunior/cstk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 treinamento existe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Apresentamos o CSTK a dois profissionais experientes em seus negócios — e leigos em programação. Cada um conduziu o próprio projeto, do briefing ao software rodando.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420624" cy="420624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8" name="Image 0" descr="/home/claude/deck/icons/check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2359518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2240280"/>
            <a:ext cx="5449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ricas e funcionais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completos, com autenticação, regras de negócio e relatórios — sem escrever uma linha de código à mão.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420624" cy="420624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1" name="Image 1" descr="/home/claude/deck/icons/shield-check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325563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3136392"/>
            <a:ext cx="5449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Seguras por padrão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e LGPD não dependeram deles: os gates de qualidade do toolkit cuidaram disso em cada etapa.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050792"/>
            <a:ext cx="420624" cy="420624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4" name="Image 2" descr="/home/claude/deck/icons/message-petr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4151742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032504"/>
            <a:ext cx="5449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se espalhou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Vieram os pedidos: “apresenta isso para quem conhece tecnologia e domina o negócio, mas não programa”.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903720" y="1298448"/>
            <a:ext cx="4736592" cy="1627632"/>
          </a:xfrm>
          <a:prstGeom prst="roundRect">
            <a:avLst>
              <a:gd name="adj" fmla="val 3933"/>
            </a:avLst>
          </a:prstGeom>
          <a:solidFill>
            <a:srgbClr val="EAF2F5"/>
          </a:solidFill>
          <a:ln/>
        </p:spPr>
      </p:sp>
      <p:sp>
        <p:nvSpPr>
          <p:cNvPr id="17" name="Text 12"/>
          <p:cNvSpPr/>
          <p:nvPr/>
        </p:nvSpPr>
        <p:spPr>
          <a:xfrm>
            <a:off x="7132320" y="1389888"/>
            <a:ext cx="1234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55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400" dirty="0"/>
          </a:p>
        </p:txBody>
      </p:sp>
      <p:sp>
        <p:nvSpPr>
          <p:cNvPr id="18" name="Text 13"/>
          <p:cNvSpPr/>
          <p:nvPr/>
        </p:nvSpPr>
        <p:spPr>
          <a:xfrm>
            <a:off x="8458200" y="1389888"/>
            <a:ext cx="295351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de negócio conduziram seus projetos — nenhum deles programador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903720" y="3090672"/>
            <a:ext cx="4736592" cy="1060704"/>
          </a:xfrm>
          <a:prstGeom prst="roundRect">
            <a:avLst>
              <a:gd name="adj" fmla="val 6034"/>
            </a:avLst>
          </a:prstGeom>
          <a:solidFill>
            <a:srgbClr val="EAF2F5"/>
          </a:solidFill>
          <a:ln/>
        </p:spPr>
      </p:sp>
      <p:sp>
        <p:nvSpPr>
          <p:cNvPr id="20" name="Text 15"/>
          <p:cNvSpPr/>
          <p:nvPr/>
        </p:nvSpPr>
        <p:spPr>
          <a:xfrm>
            <a:off x="7132320" y="3200400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Provas de conceito e MVPs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ideal do CSTK: validar a ideia e a necessidade, em complexidade até média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903720" y="4315968"/>
            <a:ext cx="4736592" cy="1481328"/>
          </a:xfrm>
          <a:prstGeom prst="roundRect">
            <a:avLst>
              <a:gd name="adj" fmla="val 4321"/>
            </a:avLst>
          </a:prstGeom>
          <a:solidFill>
            <a:srgbClr val="F9EFDC"/>
          </a:solidFill>
          <a:ln/>
        </p:spPr>
      </p:sp>
      <p:sp>
        <p:nvSpPr>
          <p:cNvPr id="22" name="Shape 17"/>
          <p:cNvSpPr/>
          <p:nvPr/>
        </p:nvSpPr>
        <p:spPr>
          <a:xfrm>
            <a:off x="7104888" y="4544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deck/icons/target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465429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26680" y="4480560"/>
            <a:ext cx="3685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hoje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você a transformar objetivos bem descritos em POCs e MVPs funcionais, seguros e auditáveis — e a envolver o time de TI na hora certa.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gargalo mudou: especificar vale mais que programar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40680" cy="3108960"/>
          </a:xfrm>
          <a:prstGeom prst="roundRect">
            <a:avLst>
              <a:gd name="adj" fmla="val 2059"/>
            </a:avLst>
          </a:prstGeom>
          <a:solidFill>
            <a:srgbClr val="EAF2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727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TRADICIONAL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38528"/>
            <a:ext cx="4892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depende de tradução técnica para virar requisito;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entende do negócio sai do circuito cedo demais;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ou meses até ver a primeira versão útil;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retrabalho nasce de mal-entendidos, não de má técnica.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40680" cy="3108960"/>
          </a:xfrm>
          <a:prstGeom prst="roundRect">
            <a:avLst>
              <a:gd name="adj" fmla="val 2059"/>
            </a:avLst>
          </a:prstGeom>
          <a:solidFill>
            <a:srgbClr val="0C314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727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CSTK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938528"/>
            <a:ext cx="4892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descreve o QUE e o POR QUÊ, em português;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conduz o COMO, com método e gates de qualidade;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ou MVP em horas de execução, não em semanas;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fica registrada para a sua revisão.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94415" cy="1051560"/>
          </a:xfrm>
          <a:prstGeom prst="roundRect">
            <a:avLst>
              <a:gd name="adj" fmla="val 6087"/>
            </a:avLst>
          </a:prstGeom>
          <a:solidFill>
            <a:srgbClr val="F9EFDC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50292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/home/claude/deck/icons/lightbulb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5165263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489204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conhecimento do negócio é a matéria-prima. </a:t>
            </a:r>
            <a:pPr indent="0" marL="0">
              <a:buNone/>
            </a:pPr>
            <a:r>
              <a:rPr lang="en-US" sz="15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descrição rica e o objetivo claro são o novo código-fonte.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TOOLKIT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CSTK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Toolkit: um conjunto de ferramentas open source (licença MIT) construído sobre o Claude Code, organizado em três camadas independentes.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EAF2F5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585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deck/icons/zap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394631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9900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6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por linguagem natural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22960" y="372160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7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30 habilidades que disparam pela intenção: “especifica essa feature”, “revisa a segurança”, “me aconselhe sobre este plano”. Sem comandos técnicos para decorar.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15968" y="196596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EAF2F5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0288" y="22585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deck/icons/terminal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351" y="2394631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0288" y="29900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cstk</a:t>
            </a:r>
            <a:endParaRPr lang="en-US" sz="16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e operação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590288" y="372160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7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comando instala e atualiza tudo. Também mantém a memória de execuções (recall), sessões paralelas (session) e o painel web (serve).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83296" y="196596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F9EFDC"/>
          </a:solidFill>
          <a:ln/>
          <a:effectLst>
            <a:outerShdw sx="100000" sy="100000" kx="0" ky="0" algn="bl" rotWithShape="0" blurRad="88900" dist="12700" dir="5400000">
              <a:srgbClr val="8FA6B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57616" y="22585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deck/icons/bot-petr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679" y="2394631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57616" y="29900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Orquestradores</a:t>
            </a:r>
            <a:endParaRPr lang="en-US" sz="1650" dirty="0"/>
          </a:p>
          <a:p>
            <a:pPr indent="0" marL="0">
              <a:buNone/>
            </a:pPr>
            <a:r>
              <a:rPr lang="en-US" sz="1050" i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agente-00c e feature-00c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357616" y="372160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7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Conduzem o ciclo inteiro de desenvolvimento sozinhos, pausando apenas quando uma decisão é sua. É a camada que este treinamento ensina a operar.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357616" y="4828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DESTE TREINAMENTO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camadas funcionam de forma independente: dá para usar só as skills no dia a dia — e reservar o orquestrador para projetos completos.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3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01368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54096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306824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59552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65008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17736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70464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20095" y="457200"/>
            <a:ext cx="128016" cy="128016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94415" y="457200"/>
            <a:ext cx="128016" cy="1280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368735" y="457200"/>
            <a:ext cx="128016" cy="1280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2344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276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método: SDD e os orquestradores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4360" y="288036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desenvolvimento dirigido por especificação (SDD)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pipeline, etapa por etapa, em linguagem de negócio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agente-00c e feature-00c: quando usar cada um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de execução e o humano no circuito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conceito exige saber programar — exige saber decidir.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SDD — Desenvolvimento Dirigido por Especificação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029200" cy="1481328"/>
          </a:xfrm>
          <a:prstGeom prst="roundRect">
            <a:avLst>
              <a:gd name="adj" fmla="val 4321"/>
            </a:avLst>
          </a:prstGeom>
          <a:solidFill>
            <a:srgbClr val="0C31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linha de código antes de uma especificação clara, validada e aprovada.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420624" cy="420624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9" name="Image 0" descr="/home/claude/deck/icons/building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3273918"/>
            <a:ext cx="218724" cy="2187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3856" y="3154680"/>
            <a:ext cx="4443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analogia da obra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constrói um prédio direto do terreno: há briefing com o cliente, projeto arquitetônico aprovado, cronograma de obra — e fiscalização a cada etapa. O SDD aplica a mesma disciplina ao software.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983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é consequência. O ativo é a especificação — e ela nasce do seu conhecimento do negócio.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97880" y="1371600"/>
            <a:ext cx="5745175" cy="1005840"/>
          </a:xfrm>
          <a:prstGeom prst="roundRect">
            <a:avLst>
              <a:gd name="adj" fmla="val 6364"/>
            </a:avLst>
          </a:prstGeom>
          <a:solidFill>
            <a:srgbClr val="EAF2F5"/>
          </a:solidFill>
          <a:ln/>
        </p:spPr>
      </p:sp>
      <p:sp>
        <p:nvSpPr>
          <p:cNvPr id="13" name="Text 10"/>
          <p:cNvSpPr/>
          <p:nvPr/>
        </p:nvSpPr>
        <p:spPr>
          <a:xfrm>
            <a:off x="6044184" y="1499616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720840" y="1481328"/>
            <a:ext cx="4739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 </a:t>
            </a:r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briefing · constitution</a:t>
            </a:r>
            <a:endParaRPr lang="en-US" sz="13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negócio, os usuários e as restrições; fixar princípios inegociáveis.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897880" y="2505456"/>
            <a:ext cx="5745175" cy="1005840"/>
          </a:xfrm>
          <a:prstGeom prst="roundRect">
            <a:avLst>
              <a:gd name="adj" fmla="val 6364"/>
            </a:avLst>
          </a:prstGeom>
          <a:solidFill>
            <a:srgbClr val="EAF2F5"/>
          </a:solidFill>
          <a:ln/>
        </p:spPr>
      </p:sp>
      <p:sp>
        <p:nvSpPr>
          <p:cNvPr id="16" name="Text 13"/>
          <p:cNvSpPr/>
          <p:nvPr/>
        </p:nvSpPr>
        <p:spPr>
          <a:xfrm>
            <a:off x="6044184" y="2633472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720840" y="2615184"/>
            <a:ext cx="4739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 </a:t>
            </a:r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specify · clarify</a:t>
            </a:r>
            <a:endParaRPr lang="en-US" sz="13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que será construído e por quê — com critérios de aceite mensuráveis.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897880" y="3639312"/>
            <a:ext cx="5745175" cy="1005840"/>
          </a:xfrm>
          <a:prstGeom prst="roundRect">
            <a:avLst>
              <a:gd name="adj" fmla="val 6364"/>
            </a:avLst>
          </a:prstGeom>
          <a:solidFill>
            <a:srgbClr val="EAF2F5"/>
          </a:solidFill>
          <a:ln/>
        </p:spPr>
      </p:sp>
      <p:sp>
        <p:nvSpPr>
          <p:cNvPr id="19" name="Text 16"/>
          <p:cNvSpPr/>
          <p:nvPr/>
        </p:nvSpPr>
        <p:spPr>
          <a:xfrm>
            <a:off x="6044184" y="3767328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720840" y="3749040"/>
            <a:ext cx="4739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 </a:t>
            </a:r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· checklist</a:t>
            </a:r>
            <a:endParaRPr lang="en-US" sz="13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como construir: tecnologias, dados, contratos e gates de qualidade.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897880" y="4773168"/>
            <a:ext cx="5745175" cy="1005840"/>
          </a:xfrm>
          <a:prstGeom prst="roundRect">
            <a:avLst>
              <a:gd name="adj" fmla="val 6364"/>
            </a:avLst>
          </a:prstGeom>
          <a:solidFill>
            <a:srgbClr val="DCE9EE"/>
          </a:solidFill>
          <a:ln/>
        </p:spPr>
      </p:sp>
      <p:sp>
        <p:nvSpPr>
          <p:cNvPr id="22" name="Text 19"/>
          <p:cNvSpPr/>
          <p:nvPr/>
        </p:nvSpPr>
        <p:spPr>
          <a:xfrm>
            <a:off x="6044184" y="4901184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6720840" y="4882896"/>
            <a:ext cx="4739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 </a:t>
            </a:r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create-tasks · execute-task · review</a:t>
            </a:r>
            <a:endParaRPr lang="en-US" sz="13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tarefa a tarefa, com testes, revisão e relatório auditável.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pipeline, etapa por etapa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130552" cy="1572768"/>
          </a:xfrm>
          <a:prstGeom prst="roundRect">
            <a:avLst>
              <a:gd name="adj" fmla="val 4070"/>
            </a:avLst>
          </a:prstGeom>
          <a:solidFill>
            <a:srgbClr val="EAF2F5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499616"/>
            <a:ext cx="18379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briefing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de descoberta: visão, usuários, escopo e restrições.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371600"/>
            <a:ext cx="2130552" cy="1572768"/>
          </a:xfrm>
          <a:prstGeom prst="roundRect">
            <a:avLst>
              <a:gd name="adj" fmla="val 4070"/>
            </a:avLst>
          </a:prstGeom>
          <a:solidFill>
            <a:srgbClr val="EAF2F5"/>
          </a:solidFill>
          <a:ln/>
        </p:spPr>
      </p:sp>
      <p:sp>
        <p:nvSpPr>
          <p:cNvPr id="9" name="Text 7"/>
          <p:cNvSpPr/>
          <p:nvPr/>
        </p:nvSpPr>
        <p:spPr>
          <a:xfrm>
            <a:off x="2935224" y="1499616"/>
            <a:ext cx="18379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constitution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inegociáveis que governam todas as decisões.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2130552" cy="1572768"/>
          </a:xfrm>
          <a:prstGeom prst="roundRect">
            <a:avLst>
              <a:gd name="adj" fmla="val 4070"/>
            </a:avLst>
          </a:prstGeom>
          <a:solidFill>
            <a:srgbClr val="EAF2F5"/>
          </a:solidFill>
          <a:ln/>
        </p:spPr>
      </p:sp>
      <p:sp>
        <p:nvSpPr>
          <p:cNvPr id="11" name="Text 9"/>
          <p:cNvSpPr/>
          <p:nvPr/>
        </p:nvSpPr>
        <p:spPr>
          <a:xfrm>
            <a:off x="5175504" y="1499616"/>
            <a:ext cx="18379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specify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histórias de usuário com critérios de aceite.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69480" y="1371600"/>
            <a:ext cx="2130552" cy="1572768"/>
          </a:xfrm>
          <a:prstGeom prst="roundRect">
            <a:avLst>
              <a:gd name="adj" fmla="val 4070"/>
            </a:avLst>
          </a:prstGeom>
          <a:solidFill>
            <a:srgbClr val="EAF2F5"/>
          </a:solidFill>
          <a:ln/>
        </p:spPr>
      </p:sp>
      <p:sp>
        <p:nvSpPr>
          <p:cNvPr id="13" name="Text 11"/>
          <p:cNvSpPr/>
          <p:nvPr/>
        </p:nvSpPr>
        <p:spPr>
          <a:xfrm>
            <a:off x="7415784" y="1499616"/>
            <a:ext cx="18379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clarify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Ambiguidades viram até 5 perguntas objetivas, com recomendação.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0" y="1371600"/>
            <a:ext cx="2130552" cy="1572768"/>
          </a:xfrm>
          <a:prstGeom prst="roundRect">
            <a:avLst>
              <a:gd name="adj" fmla="val 4070"/>
            </a:avLst>
          </a:prstGeom>
          <a:solidFill>
            <a:srgbClr val="EAF2F5"/>
          </a:solidFill>
          <a:ln/>
        </p:spPr>
      </p:sp>
      <p:sp>
        <p:nvSpPr>
          <p:cNvPr id="15" name="Text 13"/>
          <p:cNvSpPr/>
          <p:nvPr/>
        </p:nvSpPr>
        <p:spPr>
          <a:xfrm>
            <a:off x="9656064" y="1499616"/>
            <a:ext cx="18379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técnico: tecnologias, modelo de dados, contratos.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2130552" cy="1572768"/>
          </a:xfrm>
          <a:prstGeom prst="roundRect">
            <a:avLst>
              <a:gd name="adj" fmla="val 4070"/>
            </a:avLst>
          </a:prstGeom>
          <a:solidFill>
            <a:srgbClr val="DCE9EE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236976"/>
            <a:ext cx="18379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qualidade dos requisitos antes de codificar.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3108960"/>
            <a:ext cx="2130552" cy="1572768"/>
          </a:xfrm>
          <a:prstGeom prst="roundRect">
            <a:avLst>
              <a:gd name="adj" fmla="val 4070"/>
            </a:avLst>
          </a:prstGeom>
          <a:solidFill>
            <a:srgbClr val="DCE9EE"/>
          </a:solidFill>
          <a:ln/>
        </p:spPr>
      </p:sp>
      <p:sp>
        <p:nvSpPr>
          <p:cNvPr id="19" name="Text 17"/>
          <p:cNvSpPr/>
          <p:nvPr/>
        </p:nvSpPr>
        <p:spPr>
          <a:xfrm>
            <a:off x="2935224" y="3236976"/>
            <a:ext cx="18379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create-tasks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de tarefas com dependências e criticidade.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108960"/>
            <a:ext cx="2130552" cy="1572768"/>
          </a:xfrm>
          <a:prstGeom prst="roundRect">
            <a:avLst>
              <a:gd name="adj" fmla="val 4070"/>
            </a:avLst>
          </a:prstGeom>
          <a:solidFill>
            <a:srgbClr val="DCE9EE"/>
          </a:solidFill>
          <a:ln/>
        </p:spPr>
      </p:sp>
      <p:sp>
        <p:nvSpPr>
          <p:cNvPr id="21" name="Text 19"/>
          <p:cNvSpPr/>
          <p:nvPr/>
        </p:nvSpPr>
        <p:spPr>
          <a:xfrm>
            <a:off x="5175504" y="3236976"/>
            <a:ext cx="18379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entre spec, plano, tarefas e princípios.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3108960"/>
            <a:ext cx="2130552" cy="1572768"/>
          </a:xfrm>
          <a:prstGeom prst="roundRect">
            <a:avLst>
              <a:gd name="adj" fmla="val 4070"/>
            </a:avLst>
          </a:prstGeom>
          <a:solidFill>
            <a:srgbClr val="DCE9EE"/>
          </a:solidFill>
          <a:ln/>
        </p:spPr>
      </p:sp>
      <p:sp>
        <p:nvSpPr>
          <p:cNvPr id="23" name="Text 21"/>
          <p:cNvSpPr/>
          <p:nvPr/>
        </p:nvSpPr>
        <p:spPr>
          <a:xfrm>
            <a:off x="7415784" y="3236976"/>
            <a:ext cx="18379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execute-task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9 passos, com testes e lint.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09760" y="3108960"/>
            <a:ext cx="2130552" cy="1572768"/>
          </a:xfrm>
          <a:prstGeom prst="roundRect">
            <a:avLst>
              <a:gd name="adj" fmla="val 4070"/>
            </a:avLst>
          </a:prstGeom>
          <a:solidFill>
            <a:srgbClr val="DCE9EE"/>
          </a:solidFill>
          <a:ln/>
        </p:spPr>
      </p:sp>
      <p:sp>
        <p:nvSpPr>
          <p:cNvPr id="25" name="Text 23"/>
          <p:cNvSpPr/>
          <p:nvPr/>
        </p:nvSpPr>
        <p:spPr>
          <a:xfrm>
            <a:off x="9656064" y="3236976"/>
            <a:ext cx="18379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status, progresso e recomendações.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94415" cy="1078992"/>
          </a:xfrm>
          <a:prstGeom prst="roundRect">
            <a:avLst>
              <a:gd name="adj" fmla="val 5932"/>
            </a:avLst>
          </a:prstGeom>
          <a:solidFill>
            <a:srgbClr val="EAF2F5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" y="52303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0" descr="/home/claude/deck/icons/workflow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5362042"/>
            <a:ext cx="285293" cy="285293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508760" y="5102352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consome o artefato da anterior e alimenta a próxima — nada avança sem passar pelo gate de qualidade.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orquestradores, essa sequência roda de forma autônoma; no uso manual, cada etapa é uma skill invocada por linguagem natural.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orquestradores, os mesmos trilhos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40680" cy="3566160"/>
          </a:xfrm>
          <a:prstGeom prst="roundRect">
            <a:avLst>
              <a:gd name="adj" fmla="val 1795"/>
            </a:avLst>
          </a:prstGeom>
          <a:solidFill>
            <a:srgbClr val="EAF2F5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60934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deck/icons/bot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67" y="1732239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5727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agente-00c</a:t>
            </a: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inteiro, do zero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395728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—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do briefing à revisão final do projeto.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—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e MVP novos — tirar uma ideia do papel com método.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entrega —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descrição rica do projeto (o briefing ideal, na Parte 2).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4133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22960" y="4370832"/>
            <a:ext cx="4892040" cy="402336"/>
          </a:xfrm>
          <a:prstGeom prst="roundRect">
            <a:avLst>
              <a:gd name="adj" fmla="val 15909"/>
            </a:avLst>
          </a:prstGeom>
          <a:solidFill>
            <a:srgbClr val="0C3140"/>
          </a:solidFill>
          <a:ln/>
        </p:spPr>
      </p:sp>
      <p:sp>
        <p:nvSpPr>
          <p:cNvPr id="13" name="Text 10"/>
          <p:cNvSpPr/>
          <p:nvPr/>
        </p:nvSpPr>
        <p:spPr>
          <a:xfrm>
            <a:off x="950976" y="4370832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cstk 00c ~/projetos/minha-poc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5440680" cy="3566160"/>
          </a:xfrm>
          <a:prstGeom prst="roundRect">
            <a:avLst>
              <a:gd name="adj" fmla="val 1795"/>
            </a:avLst>
          </a:prstGeom>
          <a:solidFill>
            <a:srgbClr val="EAF2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473952" y="160934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/home/claude/deck/icons/git-branch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847" y="1732239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15727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feature-00c</a:t>
            </a: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funcionalidade por vez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92240" y="2395728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—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reduzido: da especificação à revisão da funcionalidade.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—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um projeto que já nasceu com briefing e princípios.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entrega —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descrição da funcionalidade e um nome curto para ela.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492240" y="4133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492240" y="4370832"/>
            <a:ext cx="4892040" cy="402336"/>
          </a:xfrm>
          <a:prstGeom prst="roundRect">
            <a:avLst>
              <a:gd name="adj" fmla="val 15909"/>
            </a:avLst>
          </a:prstGeom>
          <a:solidFill>
            <a:srgbClr val="0C3140"/>
          </a:solidFill>
          <a:ln/>
        </p:spPr>
      </p:sp>
      <p:sp>
        <p:nvSpPr>
          <p:cNvPr id="21" name="Text 17"/>
          <p:cNvSpPr/>
          <p:nvPr/>
        </p:nvSpPr>
        <p:spPr>
          <a:xfrm>
            <a:off x="6620256" y="4370832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/feature-00c “descrição” nome-curto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5166360"/>
            <a:ext cx="11094415" cy="896112"/>
          </a:xfrm>
          <a:prstGeom prst="roundRect">
            <a:avLst>
              <a:gd name="adj" fmla="val 7143"/>
            </a:avLst>
          </a:prstGeom>
          <a:solidFill>
            <a:srgbClr val="DCE9EE"/>
          </a:solidFill>
          <a:ln/>
        </p:spPr>
      </p:sp>
      <p:sp>
        <p:nvSpPr>
          <p:cNvPr id="23" name="Text 19"/>
          <p:cNvSpPr/>
          <p:nvPr/>
        </p:nvSpPr>
        <p:spPr>
          <a:xfrm>
            <a:off x="822960" y="5230368"/>
            <a:ext cx="10545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maduro: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nasce com o agente-00c e evolui por incrementos isolados com o feature-00c — inclusive vários em paralelo, sem um atrapalhar o outro.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agente trabalha: ondas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2103120" cy="960120"/>
          </a:xfrm>
          <a:prstGeom prst="chevron">
            <a:avLst/>
          </a:prstGeom>
          <a:solidFill>
            <a:srgbClr val="155E74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estado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projeto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98064" y="1481328"/>
            <a:ext cx="2103120" cy="960120"/>
          </a:xfrm>
          <a:prstGeom prst="chevron">
            <a:avLst/>
          </a:prstGeom>
          <a:solidFill>
            <a:srgbClr val="155E74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 UMA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do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47488" y="1481328"/>
            <a:ext cx="2103120" cy="960120"/>
          </a:xfrm>
          <a:prstGeom prst="chevron">
            <a:avLst/>
          </a:prstGeom>
          <a:solidFill>
            <a:srgbClr val="155E74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qualidade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96912" y="1481328"/>
            <a:ext cx="2103120" cy="960120"/>
          </a:xfrm>
          <a:prstGeom prst="chevron">
            <a:avLst/>
          </a:prstGeom>
          <a:solidFill>
            <a:srgbClr val="155E74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decisões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aprendizado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46336" y="1481328"/>
            <a:ext cx="2103120" cy="960120"/>
          </a:xfrm>
          <a:prstGeom prst="chevron">
            <a:avLst/>
          </a:prstGeom>
          <a:solidFill>
            <a:srgbClr val="3E7A90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onda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H="1">
            <a:off x="1188720" y="2788920"/>
            <a:ext cx="9692640" cy="0"/>
          </a:xfrm>
          <a:prstGeom prst="line">
            <a:avLst/>
          </a:prstGeom>
          <a:noFill/>
          <a:ln w="22225">
            <a:solidFill>
              <a:srgbClr val="3E7A9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88720" y="28529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onda: agendada automaticamente (de 60 s a 1 h)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0" y="2697480"/>
            <a:ext cx="3227832" cy="566928"/>
          </a:xfrm>
          <a:prstGeom prst="roundRect">
            <a:avLst>
              <a:gd name="adj" fmla="val 11290"/>
            </a:avLst>
          </a:prstGeom>
          <a:solidFill>
            <a:srgbClr val="F9EFDC"/>
          </a:solidFill>
          <a:ln/>
        </p:spPr>
      </p:sp>
      <p:sp>
        <p:nvSpPr>
          <p:cNvPr id="14" name="Shape 12"/>
          <p:cNvSpPr/>
          <p:nvPr/>
        </p:nvSpPr>
        <p:spPr>
          <a:xfrm>
            <a:off x="8540496" y="27889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/home/claude/deck/icons/pause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2668" y="2881092"/>
            <a:ext cx="199705" cy="1997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015984" y="269748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humano: pausa e espera você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52044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EAF2F5"/>
          </a:solidFill>
          <a:ln/>
        </p:spPr>
      </p:sp>
      <p:sp>
        <p:nvSpPr>
          <p:cNvPr id="18" name="Shape 15"/>
          <p:cNvSpPr/>
          <p:nvPr/>
        </p:nvSpPr>
        <p:spPr>
          <a:xfrm>
            <a:off x="804672" y="377647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/home/claude/deck/icons/file-check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67" y="3899367"/>
            <a:ext cx="266273" cy="26627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4672" y="4453128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“dispare-e-esqueça”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entregável-mor é um relatório auditável de decisões, pausas e lições — feito para você revisar a rota.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315968" y="352044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EAF2F5"/>
          </a:solidFill>
          <a:ln/>
        </p:spPr>
      </p:sp>
      <p:sp>
        <p:nvSpPr>
          <p:cNvPr id="22" name="Shape 18"/>
          <p:cNvSpPr/>
          <p:nvPr/>
        </p:nvSpPr>
        <p:spPr>
          <a:xfrm>
            <a:off x="4572000" y="377647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/home/claude/deck/icons/coins-petr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895" y="3899367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72000" y="4453128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sob controle, por etapa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onda escolhe o modelo de IA pelo peso cognitivo: o mais capaz para arquitetura, o mais barato para revisão.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083296" y="352044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EAF2F5"/>
          </a:solidFill>
          <a:ln/>
        </p:spPr>
      </p:sp>
      <p:sp>
        <p:nvSpPr>
          <p:cNvPr id="26" name="Shape 21"/>
          <p:cNvSpPr/>
          <p:nvPr/>
        </p:nvSpPr>
        <p:spPr>
          <a:xfrm>
            <a:off x="8339328" y="377647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/home/claude/deck/icons/alert-petr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223" y="3899367"/>
            <a:ext cx="266273" cy="26627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339328" y="4453128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Freios automáticos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repetitivos, desvio de rota e estouro de orçamento interrompem a execução — com registro do motivo.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Autonomia com um comitê de decisão: você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pausa e espera quando...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73936"/>
            <a:ext cx="420624" cy="420624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8" name="Image 0" descr="/home/claude/deck/icons/user-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874886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1755648"/>
            <a:ext cx="5541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tem efeito fora do projeto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dependências, escolher um fornecedor, aceitar um custo — nada disso é decidido sozinho.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420624" cy="420624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1" name="Image 1" descr="/home/claude/deck/icons/shield-alert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84415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2724912"/>
            <a:ext cx="5541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achado de segurança crítico ou alto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gate OWASP bloqueia o avanço até um humano revisar. Sem exceção.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712464"/>
            <a:ext cx="420624" cy="420624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4" name="Image 2" descr="/home/claude/deck/icons/file-search-petr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813414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3694176"/>
            <a:ext cx="5541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fonte para um dado factual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do método: perguntar, nunca inventar. Dado sem fonte rastreável vira pergunta para você.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995160" y="1298448"/>
            <a:ext cx="4645152" cy="3383280"/>
          </a:xfrm>
          <a:prstGeom prst="roundRect">
            <a:avLst>
              <a:gd name="adj" fmla="val 1892"/>
            </a:avLst>
          </a:prstGeom>
          <a:solidFill>
            <a:srgbClr val="F9EFDC"/>
          </a:solidFill>
          <a:ln/>
        </p:spPr>
      </p:sp>
      <p:sp>
        <p:nvSpPr>
          <p:cNvPr id="17" name="Text 12"/>
          <p:cNvSpPr/>
          <p:nvPr/>
        </p:nvSpPr>
        <p:spPr>
          <a:xfrm>
            <a:off x="7251192" y="1481328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EXECUÇÃO DO PAINEL WEB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251192" y="1810512"/>
            <a:ext cx="4133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pausa</a:t>
            </a:r>
            <a:pPr indent="0" marL="0">
              <a:buNone/>
            </a:pPr>
            <a:r>
              <a:rPr lang="en-US" sz="13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 13 ondas de execução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7251192" y="2487168"/>
            <a:ext cx="4133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“Rodar npm install para instalar as dependências do projeto?”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251192" y="3200400"/>
            <a:ext cx="4133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humana em 313 segundos.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seguiu dali mesmo, sem retrabalho.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995160" y="4041648"/>
            <a:ext cx="464515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178040" y="4041648"/>
            <a:ext cx="4279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para o mecânico; pausa para o que é seu.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EAF2F5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504748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papel não é supervisionar código — é responder decisões de negócio no momento certo. </a:t>
            </a:r>
            <a:pPr indent="0" marL="0">
              <a:buNone/>
            </a:pPr>
            <a:r>
              <a:rPr lang="en-US" sz="13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latência da sua resposta soma no relógio do projeto.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3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01368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54096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306824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59552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65008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17736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70464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20095" y="457200"/>
            <a:ext cx="128016" cy="1280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94415" y="457200"/>
            <a:ext cx="128016" cy="128016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68735" y="457200"/>
            <a:ext cx="128016" cy="1280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2344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DE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276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 dar certo: descrição rica, objetivo claro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4360" y="288036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briefing ideal — as 9 seções (e as 5 que não podem faltar)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pedido, dois destinos: vago × rico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delimitado como decisão estratégica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Segurança, LGPD e auditoria por padrão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da entrada define o custo da saída.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HABILIDADE Nº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briefing rico: quanto melhor a entrada, menor o custo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5989320" cy="429768"/>
          </a:xfrm>
          <a:prstGeom prst="roundRect">
            <a:avLst>
              <a:gd name="adj" fmla="val 14894"/>
            </a:avLst>
          </a:prstGeom>
          <a:solidFill>
            <a:srgbClr val="EAF2F5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353312"/>
            <a:ext cx="5660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 </a:t>
            </a:r>
            <a:pPr indent="0" marL="0"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 propósito   </a:t>
            </a:r>
            <a:pPr indent="0" marL="0">
              <a:buNone/>
            </a:pPr>
            <a:r>
              <a:rPr lang="en-US" sz="10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que problema resolve, por que alguém usaria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51660"/>
            <a:ext cx="5989320" cy="429768"/>
          </a:xfrm>
          <a:prstGeom prst="roundRect">
            <a:avLst>
              <a:gd name="adj" fmla="val 14894"/>
            </a:avLst>
          </a:prstGeom>
          <a:solidFill>
            <a:srgbClr val="EAF2F5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851660"/>
            <a:ext cx="5660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 </a:t>
            </a:r>
            <a:pPr indent="0" marL="0"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e stakeholders   </a:t>
            </a:r>
            <a:pPr indent="0" marL="0">
              <a:buNone/>
            </a:pPr>
            <a:r>
              <a:rPr lang="en-US" sz="10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humanos e sistemas externos que interagem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5989320" cy="429768"/>
          </a:xfrm>
          <a:prstGeom prst="roundRect">
            <a:avLst>
              <a:gd name="adj" fmla="val 14894"/>
            </a:avLst>
          </a:prstGeom>
          <a:solidFill>
            <a:srgbClr val="EAF2F5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50008"/>
            <a:ext cx="5660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 </a:t>
            </a:r>
            <a:pPr indent="0" marL="0"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  </a:t>
            </a:r>
            <a:pPr indent="0" marL="0">
              <a:buNone/>
            </a:pPr>
            <a:r>
              <a:rPr lang="en-US" sz="10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essencial · pós-MVP · fora de escopo explícito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48356"/>
            <a:ext cx="5989320" cy="429768"/>
          </a:xfrm>
          <a:prstGeom prst="roundRect">
            <a:avLst>
              <a:gd name="adj" fmla="val 14894"/>
            </a:avLst>
          </a:prstGeom>
          <a:solidFill>
            <a:srgbClr val="EAF2F5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848356"/>
            <a:ext cx="5660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 </a:t>
            </a:r>
            <a:pPr indent="0" marL="0"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e trade-offs   </a:t>
            </a:r>
            <a:pPr indent="0" marL="0">
              <a:buNone/>
            </a:pPr>
            <a:r>
              <a:rPr lang="en-US" sz="10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Segurança &gt; Qualidade &gt; Velocidade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5989320" cy="429768"/>
          </a:xfrm>
          <a:prstGeom prst="roundRect">
            <a:avLst>
              <a:gd name="adj" fmla="val 14894"/>
            </a:avLst>
          </a:prstGeom>
          <a:solidFill>
            <a:srgbClr val="EAF2F5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346704"/>
            <a:ext cx="5660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 </a:t>
            </a:r>
            <a:pPr indent="0" marL="0"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  </a:t>
            </a:r>
            <a:pPr indent="0" marL="0">
              <a:buNone/>
            </a:pPr>
            <a:r>
              <a:rPr lang="en-US" sz="10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prazo, equipe, orçamento, exigências técnicas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5052"/>
            <a:ext cx="5989320" cy="429768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845052"/>
            <a:ext cx="5660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 </a:t>
            </a:r>
            <a:pPr indent="0" marL="0">
              <a:buNone/>
            </a:pPr>
            <a:r>
              <a:rPr lang="en-US" sz="1150" b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 arquitetura   </a:t>
            </a:r>
            <a:pPr indent="0" marL="0">
              <a:buNone/>
            </a:pPr>
            <a:r>
              <a:rPr lang="en-US" sz="100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 — o agente propõe se você não definir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5989320" cy="429768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343400"/>
            <a:ext cx="5660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 </a:t>
            </a:r>
            <a:pPr indent="0" marL="0">
              <a:buNone/>
            </a:pPr>
            <a:r>
              <a:rPr lang="en-US" sz="1150" b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padrões   </a:t>
            </a:r>
            <a:pPr indent="0" marL="0">
              <a:buNone/>
            </a:pPr>
            <a:r>
              <a:rPr lang="en-US" sz="100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testes, LGPD/compliance, desempenho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41748"/>
            <a:ext cx="5989320" cy="429768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841748"/>
            <a:ext cx="5660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 </a:t>
            </a:r>
            <a:pPr indent="0" marL="0">
              <a:buNone/>
            </a:pPr>
            <a:r>
              <a:rPr lang="en-US" sz="1150" b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futuro   </a:t>
            </a:r>
            <a:pPr indent="0" marL="0">
              <a:buNone/>
            </a:pPr>
            <a:r>
              <a:rPr lang="en-US" sz="100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meses, escala esperada, riscos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340096"/>
            <a:ext cx="5989320" cy="429768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5340096"/>
            <a:ext cx="5660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  </a:t>
            </a:r>
            <a:pPr indent="0" marL="0">
              <a:buNone/>
            </a:pPr>
            <a:r>
              <a:rPr lang="en-US" sz="1150" b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técnico   </a:t>
            </a:r>
            <a:pPr indent="0" marL="0">
              <a:buNone/>
            </a:pPr>
            <a:r>
              <a:rPr lang="en-US" sz="100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para arquiteturas complexas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1353312"/>
            <a:ext cx="4782312" cy="1417320"/>
          </a:xfrm>
          <a:prstGeom prst="roundRect">
            <a:avLst>
              <a:gd name="adj" fmla="val 4516"/>
            </a:avLst>
          </a:prstGeom>
          <a:solidFill>
            <a:srgbClr val="F9EFDC"/>
          </a:solidFill>
          <a:ln/>
        </p:spPr>
      </p:sp>
      <p:sp>
        <p:nvSpPr>
          <p:cNvPr id="25" name="Shape 23"/>
          <p:cNvSpPr/>
          <p:nvPr/>
        </p:nvSpPr>
        <p:spPr>
          <a:xfrm>
            <a:off x="7077456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0" descr="/home/claude/deck/icons/zap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184" y="1664208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680960" y="1481328"/>
            <a:ext cx="3739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do agente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descrição inicial já responde às dimensões da entrevista, ele registra tudo, pula as perguntas equivalentes e vai direto à síntese.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858000" y="2926080"/>
            <a:ext cx="4782312" cy="1481328"/>
          </a:xfrm>
          <a:prstGeom prst="roundRect">
            <a:avLst>
              <a:gd name="adj" fmla="val 4321"/>
            </a:avLst>
          </a:prstGeom>
          <a:solidFill>
            <a:srgbClr val="EAF2F5"/>
          </a:solidFill>
          <a:ln/>
        </p:spPr>
      </p:sp>
      <p:sp>
        <p:nvSpPr>
          <p:cNvPr id="29" name="Shape 26"/>
          <p:cNvSpPr/>
          <p:nvPr/>
        </p:nvSpPr>
        <p:spPr>
          <a:xfrm>
            <a:off x="7077456" y="31272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1" descr="/home/claude/deck/icons/file-text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3236976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680960" y="3054096"/>
            <a:ext cx="3739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 template pronto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briefing-prompt-ideal.md — mapeado 1:1 com a entrevista do agente, com blocos opcionais marcados para cortar em entregas simples.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858000" y="4572000"/>
            <a:ext cx="4782312" cy="1234440"/>
          </a:xfrm>
          <a:prstGeom prst="roundRect">
            <a:avLst>
              <a:gd name="adj" fmla="val 5185"/>
            </a:avLst>
          </a:prstGeom>
          <a:solidFill>
            <a:srgbClr val="0C3140"/>
          </a:solidFill>
          <a:ln/>
        </p:spPr>
      </p:sp>
      <p:sp>
        <p:nvSpPr>
          <p:cNvPr id="33" name="Text 29"/>
          <p:cNvSpPr/>
          <p:nvPr/>
        </p:nvSpPr>
        <p:spPr>
          <a:xfrm>
            <a:off x="7114032" y="4700016"/>
            <a:ext cx="4270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a §5 são o mínimo irredutível.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elas preenchidas, o briefing fecha sozinho — em geral com zero perguntas.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HABILIDADE Nº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pedido, dois destinos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5440680" cy="3657600"/>
          </a:xfrm>
          <a:prstGeom prst="roundRect">
            <a:avLst>
              <a:gd name="adj" fmla="val 1750"/>
            </a:avLst>
          </a:prstGeom>
          <a:solidFill>
            <a:srgbClr val="F6E9E4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572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deck/icons/x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824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093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briefing vago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222199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“Quero um sistema de pedidos para a minha distribuidora.”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3044952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pergunta — ou assume — dezenas de decisões;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escopo infla a cada onda, sem um dono;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perguntas, mais pausas, mais custo;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pode ser ótimo — para o problema errado.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353312"/>
            <a:ext cx="5440680" cy="3657600"/>
          </a:xfrm>
          <a:prstGeom prst="roundRect">
            <a:avLst>
              <a:gd name="adj" fmla="val 1750"/>
            </a:avLst>
          </a:prstGeom>
          <a:solidFill>
            <a:srgbClr val="E7F1EB"/>
          </a:solidFill>
          <a:ln/>
        </p:spPr>
      </p:sp>
      <p:sp>
        <p:nvSpPr>
          <p:cNvPr id="13" name="Shape 10"/>
          <p:cNvSpPr/>
          <p:nvPr/>
        </p:nvSpPr>
        <p:spPr>
          <a:xfrm>
            <a:off x="6455664" y="1572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deck/icons/check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68249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6093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briefing rico (resumo)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92240" y="2221992"/>
            <a:ext cx="4892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B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anotados no WhatsApp geram erro de preço e de estoque.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(3 itens):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B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com preço por cliente · pedido com validação de estoque · painel diário de vendas.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de escopo: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B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online e roteirização de entrega.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Prioridades: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B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&gt; Qualidade &gt; Velocidade.</a:t>
            </a:r>
            <a:endParaRPr lang="en-US" sz="1150" dirty="0"/>
          </a:p>
          <a:p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Restrições: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B5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dias, LGPD, infraestrutura de nuvem atual.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5285232"/>
            <a:ext cx="2395728" cy="475488"/>
          </a:xfrm>
          <a:prstGeom prst="roundRect">
            <a:avLst>
              <a:gd name="adj" fmla="val 13462"/>
            </a:avLst>
          </a:prstGeom>
          <a:solidFill>
            <a:srgbClr val="EAF2F5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528523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perguntas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962656" y="52852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447288" y="5285232"/>
            <a:ext cx="2395728" cy="475488"/>
          </a:xfrm>
          <a:prstGeom prst="roundRect">
            <a:avLst>
              <a:gd name="adj" fmla="val 13462"/>
            </a:avLst>
          </a:prstGeom>
          <a:solidFill>
            <a:srgbClr val="EAF2F5"/>
          </a:solidFill>
          <a:ln/>
        </p:spPr>
      </p:sp>
      <p:sp>
        <p:nvSpPr>
          <p:cNvPr id="21" name="Text 17"/>
          <p:cNvSpPr/>
          <p:nvPr/>
        </p:nvSpPr>
        <p:spPr>
          <a:xfrm>
            <a:off x="3447288" y="528523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ondas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861304" y="52852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345936" y="5285232"/>
            <a:ext cx="2395728" cy="475488"/>
          </a:xfrm>
          <a:prstGeom prst="roundRect">
            <a:avLst>
              <a:gd name="adj" fmla="val 13462"/>
            </a:avLst>
          </a:prstGeom>
          <a:solidFill>
            <a:srgbClr val="EAF2F5"/>
          </a:solidFill>
          <a:ln/>
        </p:spPr>
      </p:sp>
      <p:sp>
        <p:nvSpPr>
          <p:cNvPr id="24" name="Text 20"/>
          <p:cNvSpPr/>
          <p:nvPr/>
        </p:nvSpPr>
        <p:spPr>
          <a:xfrm>
            <a:off x="6345936" y="528523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custo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759952" y="52852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9244584" y="5285232"/>
            <a:ext cx="2395728" cy="475488"/>
          </a:xfrm>
          <a:prstGeom prst="roundRect">
            <a:avLst>
              <a:gd name="adj" fmla="val 13462"/>
            </a:avLst>
          </a:prstGeom>
          <a:solidFill>
            <a:srgbClr val="155E74"/>
          </a:solidFill>
          <a:ln/>
        </p:spPr>
      </p:sp>
      <p:sp>
        <p:nvSpPr>
          <p:cNvPr id="27" name="Text 23"/>
          <p:cNvSpPr/>
          <p:nvPr/>
        </p:nvSpPr>
        <p:spPr>
          <a:xfrm>
            <a:off x="9244584" y="528523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previsível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 CENTRAL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claro é escopo delimitado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“Fora de escopo” é uma decisão tão estratégica quanto o MVP.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66160" cy="2240280"/>
          </a:xfrm>
          <a:prstGeom prst="roundRect">
            <a:avLst>
              <a:gd name="adj" fmla="val 2857"/>
            </a:avLst>
          </a:prstGeom>
          <a:solidFill>
            <a:srgbClr val="EAF2F5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1226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deck/icons/package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67" y="2235159"/>
            <a:ext cx="266273" cy="2662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770632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enxuto</a:t>
            </a:r>
            <a:endParaRPr lang="en-US" sz="13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a 5 funcionalidades essenciais — sem as quais o produto não faz sentido. E nada além disso na primeira rodada.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15968" y="1874520"/>
            <a:ext cx="3566160" cy="2240280"/>
          </a:xfrm>
          <a:prstGeom prst="roundRect">
            <a:avLst>
              <a:gd name="adj" fmla="val 2857"/>
            </a:avLst>
          </a:prstGeom>
          <a:solidFill>
            <a:srgbClr val="EAF2F5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211226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deck/icons/scissors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95" y="2235159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770632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de escopo por escrito</a:t>
            </a:r>
            <a:endParaRPr lang="en-US" sz="13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faremos agora, registrado. É o freio mais barato do projeto: protege prazo, orçamento e foco.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83296" y="1874520"/>
            <a:ext cx="3566160" cy="2240280"/>
          </a:xfrm>
          <a:prstGeom prst="roundRect">
            <a:avLst>
              <a:gd name="adj" fmla="val 2857"/>
            </a:avLst>
          </a:prstGeom>
          <a:solidFill>
            <a:srgbClr val="EAF2F5"/>
          </a:solidFill>
          <a:ln/>
        </p:spPr>
      </p:sp>
      <p:sp>
        <p:nvSpPr>
          <p:cNvPr id="16" name="Shape 12"/>
          <p:cNvSpPr/>
          <p:nvPr/>
        </p:nvSpPr>
        <p:spPr>
          <a:xfrm>
            <a:off x="8339328" y="211226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deck/icons/git-branch-petr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223" y="2235159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2770632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Incrementos isolados</a:t>
            </a:r>
            <a:endParaRPr lang="en-US" sz="13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evolução vira um feature-00c próprio, com começo, meio e fim — em vez de inflar o projeto original.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434340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7F1EB"/>
          </a:solidFill>
          <a:ln/>
        </p:spPr>
      </p:sp>
      <p:sp>
        <p:nvSpPr>
          <p:cNvPr id="20" name="Shape 15"/>
          <p:cNvSpPr/>
          <p:nvPr/>
        </p:nvSpPr>
        <p:spPr>
          <a:xfrm>
            <a:off x="786384" y="45994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deck/icons/check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7091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452628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3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honesto</a:t>
            </a:r>
            <a:endParaRPr lang="en-US" sz="130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completos concluídos em 1h43 a 3h41 de execução — com zero ou uma pausa humana (casos reais).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217920" y="434340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6E9E4"/>
          </a:solidFill>
          <a:ln/>
        </p:spPr>
      </p:sp>
      <p:sp>
        <p:nvSpPr>
          <p:cNvPr id="24" name="Shape 18"/>
          <p:cNvSpPr/>
          <p:nvPr/>
        </p:nvSpPr>
        <p:spPr>
          <a:xfrm>
            <a:off x="6455664" y="45994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home/claude/deck/icons/alert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70916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59168" y="452628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300" b="1" dirty="0">
                <a:solidFill>
                  <a:srgbClr val="A8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aberto</a:t>
            </a:r>
            <a:endParaRPr lang="en-US" sz="130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48 horas, orçamento estourado e 10 pausas humanas (caso real — os detalhes vêm na Parte 3).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fator mais importante: nasce documentado e seguro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155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Documentação, OWASP e LGPD não são etapas finais — são premissas de nascimento de cada projeto.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5440680" cy="1627632"/>
          </a:xfrm>
          <a:prstGeom prst="roundRect">
            <a:avLst>
              <a:gd name="adj" fmla="val 3933"/>
            </a:avLst>
          </a:prstGeom>
          <a:solidFill>
            <a:srgbClr val="F9EFDC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99339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deck/icons/file-text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67" y="2116287"/>
            <a:ext cx="266273" cy="2662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975104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documentado</a:t>
            </a:r>
            <a:endParaRPr lang="en-US" sz="13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Briefing, especificação, plano, backlog e decisões — tudo escrito e versionado antes e durante o código. É o dossiê que o time de TI recebe pronto.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08776" y="1755648"/>
            <a:ext cx="5440680" cy="1627632"/>
          </a:xfrm>
          <a:prstGeom prst="roundRect">
            <a:avLst>
              <a:gd name="adj" fmla="val 3933"/>
            </a:avLst>
          </a:prstGeom>
          <a:solidFill>
            <a:srgbClr val="EAF2F5"/>
          </a:solidFill>
          <a:ln/>
        </p:spPr>
      </p:sp>
      <p:sp>
        <p:nvSpPr>
          <p:cNvPr id="12" name="Shape 9"/>
          <p:cNvSpPr/>
          <p:nvPr/>
        </p:nvSpPr>
        <p:spPr>
          <a:xfrm>
            <a:off x="6464808" y="199339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deck/icons/shield-check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703" y="2116287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23176" y="1975104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OWASP como gate</a:t>
            </a:r>
            <a:endParaRPr lang="en-US" sz="13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moderno (Top 10 2025, APIs, ASVS 5.0, riscos de IA). Achado crítico ou alto bloqueia o avanço até revisão humana — sem exceção.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602736"/>
            <a:ext cx="5440680" cy="1627632"/>
          </a:xfrm>
          <a:prstGeom prst="roundRect">
            <a:avLst>
              <a:gd name="adj" fmla="val 3933"/>
            </a:avLst>
          </a:prstGeom>
          <a:solidFill>
            <a:srgbClr val="EAF2F5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38404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deck/icons/scale-petr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3963375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822192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desde o discovery</a:t>
            </a:r>
            <a:endParaRPr lang="en-US" sz="13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é campo do briefing (§7) e vira requisito com critério de aceite — privacidade por concepção, não remendo de véspera.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08776" y="3602736"/>
            <a:ext cx="5440680" cy="1627632"/>
          </a:xfrm>
          <a:prstGeom prst="roundRect">
            <a:avLst>
              <a:gd name="adj" fmla="val 3933"/>
            </a:avLst>
          </a:prstGeom>
          <a:solidFill>
            <a:srgbClr val="EAF2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64808" y="38404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deck/icons/lock-petr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703" y="396337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23176" y="3822192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Guardas aplicadas por mecanismo</a:t>
            </a:r>
            <a:endParaRPr lang="en-US" sz="13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publicação externa, sem deploy, sem privilégios de administrador. Comandos interceptados; tudo confinado à pasta do projeto.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5440680"/>
            <a:ext cx="11094415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5875">
            <a:solidFill>
              <a:srgbClr val="DCE9E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77240" y="5440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importa: </a:t>
            </a:r>
            <a:pPr indent="0" marL="0">
              <a:buNone/>
            </a:pPr>
            <a:r>
              <a:rPr lang="en-US" sz="12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assistente de revisão contínua — não substitui pentest nem auditoria formal na ida a produção.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diferença entre confiar e poder auditar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3E7A90"/>
            </a:solidFill>
            <a:prstDash val="solid"/>
          </a:ln>
          <a:effectLst>
            <a:outerShdw sx="100000" sy="100000" kx="0" ky="0" algn="bl" rotWithShape="0" blurRad="88900" dist="12700" dir="5400000">
              <a:srgbClr val="8FA6B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53619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REGISTRADA · EXEMPLO ILUSTRATIVO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1847088"/>
            <a:ext cx="48828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 para o núcleo de pedidos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RN-03 exige consistência transacional entre estoque e pedido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fontes citadas no plano técnico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opções consideradas e descartadas, com motivo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378561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 poc-demo · etapa plan · onda 007 · 2026-07-11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394960" cy="1508760"/>
          </a:xfrm>
          <a:prstGeom prst="roundRect">
            <a:avLst>
              <a:gd name="adj" fmla="val 4242"/>
            </a:avLst>
          </a:prstGeom>
          <a:solidFill>
            <a:srgbClr val="0C31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4515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CF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“Por que esta etapa rodou no modelo mais caro?” — responde-se com uma linha do banco de dados, não com uma opinião.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389888"/>
            <a:ext cx="420624" cy="420624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3" name="Image 0" descr="/home/claude/deck/icons/database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590" y="1490838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48856" y="1371600"/>
            <a:ext cx="4791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entre projetos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Decisões, pausas e lições de todas as execuções ficam pesquisáveis. O erro de um projeto vira aprendizado automático do próximo.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2441448"/>
            <a:ext cx="420624" cy="420624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6" name="Image 1" descr="/home/claude/deck/icons/monitor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590" y="2542398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48856" y="2423160"/>
            <a:ext cx="4791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web (cstk serve)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Execuções, ondas, decisões e bloqueios navegáveis no navegador — a mesma trilha, em versão visual para acompanhamento.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63640" y="3493008"/>
            <a:ext cx="420624" cy="420624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9" name="Image 2" descr="/home/claude/deck/icons/file-check-petr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590" y="3593958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48856" y="3474720"/>
            <a:ext cx="4791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execução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inteira escrita para revisão humana: o agente existe para ser revisado, não para ser acreditado.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63640" y="4681728"/>
            <a:ext cx="5376672" cy="1353312"/>
          </a:xfrm>
          <a:prstGeom prst="roundRect">
            <a:avLst>
              <a:gd name="adj" fmla="val 4730"/>
            </a:avLst>
          </a:prstGeom>
          <a:solidFill>
            <a:srgbClr val="EAF2F5"/>
          </a:solidFill>
          <a:ln/>
        </p:spPr>
      </p:sp>
      <p:sp>
        <p:nvSpPr>
          <p:cNvPr id="22" name="Text 17"/>
          <p:cNvSpPr/>
          <p:nvPr/>
        </p:nvSpPr>
        <p:spPr>
          <a:xfrm>
            <a:off x="6519672" y="4791456"/>
            <a:ext cx="4864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comitê e para o compliance: </a:t>
            </a:r>
            <a:pPr indent="0" marL="0">
              <a:lnSpc>
                <a:spcPct val="107000"/>
              </a:lnSpc>
              <a:buNone/>
            </a:pPr>
            <a:r>
              <a:rPr lang="en-US" sz="12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tem justificativa, evidência e proveniência (projeto, etapa, onda, data). Governança de IA com trilha verificável.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3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01368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54096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306824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59552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65008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17736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70464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20095" y="457200"/>
            <a:ext cx="128016" cy="1280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94415" y="457200"/>
            <a:ext cx="128016" cy="1280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368735" y="457200"/>
            <a:ext cx="128016" cy="128016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2344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DE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276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prática: números reais, demo e primeiros passos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4360" y="288036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execuções medidas pelo próprio sistema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que deu errado — e a lição que ele deixa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conhecidas, ditas sem rodeio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do time de TI: arquitetura, evolução e escala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 e o caminho para começar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slides de mágica: os números vêm do banco que o sistema alimenta sozinho.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MEDIDOS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execuções reais, medidas pelo próprio sistema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599432"/>
                <a:gridCol w="1371600"/>
                <a:gridCol w="2194560"/>
                <a:gridCol w="173736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Decisões registradas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Pausas humanas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cstk-panel — painel web 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fts-dms — sistema de gestão documental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fts-dsc — automação de descontos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7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1h43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46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fts-itk — o caso difícil (a seguir)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46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46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46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846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53128"/>
            <a:ext cx="420624" cy="420624"/>
          </a:xfrm>
          <a:prstGeom prst="ellipse">
            <a:avLst/>
          </a:prstGeom>
          <a:solidFill>
            <a:srgbClr val="E7F1EB"/>
          </a:solidFill>
          <a:ln/>
        </p:spPr>
      </p:sp>
      <p:pic>
        <p:nvPicPr>
          <p:cNvPr id="8" name="Image 0" descr="/home/claude/deck/icons/check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4554078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4434840"/>
            <a:ext cx="4901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execuções limpas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completos em horas de execução, com zero ou uma pausa humana e conclusão sem incidente.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0" y="4453128"/>
            <a:ext cx="420624" cy="420624"/>
          </a:xfrm>
          <a:prstGeom prst="ellipse">
            <a:avLst/>
          </a:prstGeom>
          <a:solidFill>
            <a:srgbClr val="F9EFDC"/>
          </a:solidFill>
          <a:ln/>
        </p:spPr>
      </p:sp>
      <p:pic>
        <p:nvPicPr>
          <p:cNvPr id="11" name="Image 1" descr="/home/claude/deck/icons/alert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750" y="4554078"/>
            <a:ext cx="218724" cy="2187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86016" y="4434840"/>
            <a:ext cx="4654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execução que ensina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quarta linha estourou tempo e orçamento — e é o próximo slide, porque a causa interessa a esta sala.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knowledge.db — métricas registradas automaticamente pelo sistema durante as execuções (ondas, decisões, pausas e duração).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MEDIDOS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caso que deu errado — e a lição que fica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F6E9E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630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4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40280" y="1481328"/>
            <a:ext cx="1691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de execução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371600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F6E9E4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14630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4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~48 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07608" y="1481328"/>
            <a:ext cx="1691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relógio total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371600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F6E9E4"/>
          </a:solidFill>
          <a:ln/>
        </p:spPr>
      </p:sp>
      <p:sp>
        <p:nvSpPr>
          <p:cNvPr id="13" name="Text 11"/>
          <p:cNvSpPr/>
          <p:nvPr/>
        </p:nvSpPr>
        <p:spPr>
          <a:xfrm>
            <a:off x="8284464" y="14630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4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774936" y="1481328"/>
            <a:ext cx="1691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pausas humanas (latência de até ~50 min)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próprio sistema capturou como sinal de alerta: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EAF2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" y="333756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0" descr="/home/claude/deck/icons/gauge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3442899"/>
            <a:ext cx="228234" cy="22823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35024" y="331927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Orçamentos estourados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chamadas de ferramenta (teto: 80) e uma onda com 19.496 segundos (teto: 5.400).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15968" y="315468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EAF2F5"/>
          </a:solidFill>
          <a:ln/>
        </p:spPr>
      </p:sp>
      <p:sp>
        <p:nvSpPr>
          <p:cNvPr id="21" name="Shape 18"/>
          <p:cNvSpPr/>
          <p:nvPr/>
        </p:nvSpPr>
        <p:spPr>
          <a:xfrm>
            <a:off x="4535424" y="333756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1" descr="/home/claude/deck/icons/refresh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763" y="3442899"/>
            <a:ext cx="228234" cy="22823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02352" y="331927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circulares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sinais de repetição: o mesmo par problema/solução, sem convergir.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83296" y="3154680"/>
            <a:ext cx="3566160" cy="1463040"/>
          </a:xfrm>
          <a:prstGeom prst="roundRect">
            <a:avLst>
              <a:gd name="adj" fmla="val 4375"/>
            </a:avLst>
          </a:prstGeom>
          <a:solidFill>
            <a:srgbClr val="EAF2F5"/>
          </a:solidFill>
          <a:ln/>
        </p:spPr>
      </p:sp>
      <p:sp>
        <p:nvSpPr>
          <p:cNvPr id="25" name="Shape 21"/>
          <p:cNvSpPr/>
          <p:nvPr/>
        </p:nvSpPr>
        <p:spPr>
          <a:xfrm>
            <a:off x="8302752" y="333756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2" descr="/home/claude/deck/icons/flag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091" y="3442899"/>
            <a:ext cx="228234" cy="22823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869680" y="331927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Aborto por desvio de rota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ondas seguidas sem tocar nos aspectos-chave — freio automático acionado.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48640" y="4892040"/>
            <a:ext cx="11094415" cy="1170432"/>
          </a:xfrm>
          <a:prstGeom prst="roundRect">
            <a:avLst>
              <a:gd name="adj" fmla="val 5469"/>
            </a:avLst>
          </a:prstGeom>
          <a:solidFill>
            <a:srgbClr val="0C3140"/>
          </a:solidFill>
          <a:ln/>
        </p:spPr>
      </p:sp>
      <p:sp>
        <p:nvSpPr>
          <p:cNvPr id="29" name="Text 24"/>
          <p:cNvSpPr/>
          <p:nvPr/>
        </p:nvSpPr>
        <p:spPr>
          <a:xfrm>
            <a:off x="822960" y="5010912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raiz: escopo amplo e mal delimitado.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foi a tecnologia — foi o pedido.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freios funcionaram, mas freio não substitui direção: escopo se decide no briefing, não na onda 60.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conhecidas — ditas antes que você descubra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EAF2F5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572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deck/icons/alert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824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08176" y="1554480"/>
            <a:ext cx="43251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experimental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e em uso real, mas sem garantias de produto: o orquestrador é mantido por uma pessoa e evolui rápido.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0488" y="1371600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EAF2F5"/>
          </a:solidFill>
          <a:ln/>
        </p:spPr>
      </p:sp>
      <p:sp>
        <p:nvSpPr>
          <p:cNvPr id="11" name="Shape 8"/>
          <p:cNvSpPr/>
          <p:nvPr/>
        </p:nvSpPr>
        <p:spPr>
          <a:xfrm>
            <a:off x="6428232" y="15727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deck/icons/wrench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824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0024" y="1554480"/>
            <a:ext cx="43251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por execuções reais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agentes não têm suíte de testes automatizada — decisão consciente do projeto, assumida em documentação.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054096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EAF2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86384" y="325526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deck/icons/clock-petr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36499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08176" y="3236976"/>
            <a:ext cx="43251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acompanhamento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Pausas pedem resposta: não é “ligar e voltar amanhã”. A sua latência soma no relógio do projeto.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90488" y="3054096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EAF2F5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8232" y="325526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deck/icons/coins-petr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36499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50024" y="3236976"/>
            <a:ext cx="43251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cresce com o escopo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medidor direto de tokens: o orçamento é monitorado por aproximações (chamadas, tempo, tamanho do estado).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4709160"/>
            <a:ext cx="11094415" cy="1371600"/>
          </a:xfrm>
          <a:prstGeom prst="roundRect">
            <a:avLst>
              <a:gd name="adj" fmla="val 4667"/>
            </a:avLst>
          </a:prstGeom>
          <a:solidFill>
            <a:srgbClr val="E7F1EB"/>
          </a:solidFill>
          <a:ln/>
        </p:spPr>
      </p:sp>
      <p:sp>
        <p:nvSpPr>
          <p:cNvPr id="23" name="Shape 17"/>
          <p:cNvSpPr/>
          <p:nvPr/>
        </p:nvSpPr>
        <p:spPr>
          <a:xfrm>
            <a:off x="804672" y="49560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/home/claude/deck/icons/target-petr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6" y="5087722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17904" y="484632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9000"/>
              </a:lnSpc>
              <a:buNone/>
            </a:pPr>
            <a:r>
              <a:rPr lang="en-US" sz="135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rende de verdade: </a:t>
            </a:r>
            <a:pPr indent="0" marL="0">
              <a:lnSpc>
                <a:spcPct val="109000"/>
              </a:lnSpc>
              <a:buNone/>
            </a:pPr>
            <a:r>
              <a:rPr lang="en-US" sz="13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provas de conceito, MVPs e funcionalidades de complexidade até média, com escopo delimitado e um operador que responde rápido. </a:t>
            </a:r>
            <a:pPr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Evolução, escala e produção pedem o time de TI — o agente prepara o terreno, não assina sozinho.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PARCERIA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visão de negócio prova o conceito; o produto é uma parceria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2529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155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envolve muito mais que a ideia inicial — e o CSTK foi desenhado para essa passagem de bastão.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2834640"/>
          </a:xfrm>
          <a:prstGeom prst="roundRect">
            <a:avLst>
              <a:gd name="adj" fmla="val 2258"/>
            </a:avLst>
          </a:prstGeom>
          <a:solidFill>
            <a:srgbClr val="EAF2F5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200253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deck/icons/target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501" y="2116653"/>
            <a:ext cx="247254" cy="2472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20391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PROVAM (NEGÓCIO)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2624328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7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e a necessidade: POC e MVP funcionando diante de usuários reais;</a:t>
            </a:r>
            <a:endParaRPr lang="en-US" sz="1200" dirty="0"/>
          </a:p>
          <a:p>
            <a:pPr marL="177800" indent="-177800">
              <a:lnSpc>
                <a:spcPct val="107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escopo certo: MVP enxuto, fora de escopo explícito, prioridades;</a:t>
            </a:r>
            <a:endParaRPr lang="en-US" sz="1200" dirty="0"/>
          </a:p>
          <a:p>
            <a:pPr marL="177800" indent="-177800">
              <a:lnSpc>
                <a:spcPct val="107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de negócio: argumentos concretos para patrocinar (ou descartar) o investimento.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783080"/>
            <a:ext cx="5440680" cy="2834640"/>
          </a:xfrm>
          <a:prstGeom prst="roundRect">
            <a:avLst>
              <a:gd name="adj" fmla="val 2258"/>
            </a:avLst>
          </a:prstGeom>
          <a:solidFill>
            <a:srgbClr val="EAF2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455664" y="200253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deck/icons/wrench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781" y="2116653"/>
            <a:ext cx="247254" cy="24725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59168" y="20391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5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DE TI SUSTENTA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2624328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7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técnicas e arquiteturais: integrações, infraestrutura e stack corporativa — alinhadas desde cedo;</a:t>
            </a:r>
            <a:endParaRPr lang="en-US" sz="1200" dirty="0"/>
          </a:p>
          <a:p>
            <a:pPr marL="177800" indent="-177800">
              <a:lnSpc>
                <a:spcPct val="107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e escala: desempenho e sustentação, com análise e acompanhamento contínuos;</a:t>
            </a:r>
            <a:endParaRPr lang="en-US" sz="1200" dirty="0"/>
          </a:p>
          <a:p>
            <a:pPr marL="177800" indent="-177800">
              <a:lnSpc>
                <a:spcPct val="107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a produção: revisão técnica formal, operação e ciclo de vida.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846320"/>
            <a:ext cx="11094415" cy="1207008"/>
          </a:xfrm>
          <a:prstGeom prst="roundRect">
            <a:avLst>
              <a:gd name="adj" fmla="val 5303"/>
            </a:avLst>
          </a:prstGeom>
          <a:solidFill>
            <a:srgbClr val="0C3140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" y="5138928"/>
            <a:ext cx="548640" cy="548640"/>
          </a:xfrm>
          <a:prstGeom prst="ellipse">
            <a:avLst/>
          </a:prstGeom>
          <a:solidFill>
            <a:srgbClr val="104054"/>
          </a:solidFill>
          <a:ln/>
        </p:spPr>
      </p:sp>
      <p:pic>
        <p:nvPicPr>
          <p:cNvPr id="19" name="Image 2" descr="/home/claude/deck/icon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5270602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17904" y="4956048"/>
            <a:ext cx="981425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passagem de bastão já sai pronta: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de TI recebe um projeto documentado de ponta a ponta — briefing, especificação, plano, decisões — e revisado contra OWASP e LGPD.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dossiê completo, não uma ideia solta.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agora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7406640" cy="841248"/>
          </a:xfrm>
          <a:prstGeom prst="roundRect">
            <a:avLst>
              <a:gd name="adj" fmla="val 7609"/>
            </a:avLst>
          </a:prstGeom>
          <a:solidFill>
            <a:srgbClr val="EAF2F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4447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1426464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briefing preenchido  —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template ideal com as 5 seções mínimas: visão, usuários, escopo, prioridades e restrições.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7406640" cy="841248"/>
          </a:xfrm>
          <a:prstGeom prst="roundRect">
            <a:avLst>
              <a:gd name="adj" fmla="val 7609"/>
            </a:avLst>
          </a:prstGeom>
          <a:solidFill>
            <a:srgbClr val="DCE9EE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3957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237744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partida  —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comando cria o projeto, coleta a descrição e as autorizações, e dispara o agente.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59552" y="2523744"/>
            <a:ext cx="2231136" cy="402336"/>
          </a:xfrm>
          <a:prstGeom prst="roundRect">
            <a:avLst>
              <a:gd name="adj" fmla="val 15909"/>
            </a:avLst>
          </a:prstGeom>
          <a:solidFill>
            <a:srgbClr val="0C3140"/>
          </a:solidFill>
          <a:ln/>
        </p:spPr>
      </p:sp>
      <p:sp>
        <p:nvSpPr>
          <p:cNvPr id="13" name="Text 11"/>
          <p:cNvSpPr/>
          <p:nvPr/>
        </p:nvSpPr>
        <p:spPr>
          <a:xfrm>
            <a:off x="5687568" y="2523744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cstk 00c ~/poc-demo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7406640" cy="841248"/>
          </a:xfrm>
          <a:prstGeom prst="roundRect">
            <a:avLst>
              <a:gd name="adj" fmla="val 7609"/>
            </a:avLst>
          </a:prstGeom>
          <a:solidFill>
            <a:srgbClr val="EAF2F5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34670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25880" y="3328416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primeiras ondas  —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sintetizado sem perguntas (ou quase), princípios ratificados, especificação nascendo.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7406640" cy="841248"/>
          </a:xfrm>
          <a:prstGeom prst="roundRect">
            <a:avLst>
              <a:gd name="adj" fmla="val 7609"/>
            </a:avLst>
          </a:prstGeom>
          <a:solidFill>
            <a:srgbClr val="DCE9EE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4297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25880" y="4279392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bloqueio real  —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pausa com uma pergunta objetiva; eu respondo; a execução segue.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57216"/>
            <a:ext cx="7406640" cy="841248"/>
          </a:xfrm>
          <a:prstGeom prst="roundRect">
            <a:avLst>
              <a:gd name="adj" fmla="val 7609"/>
            </a:avLst>
          </a:prstGeom>
          <a:solidFill>
            <a:srgbClr val="EAF2F5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52486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25880" y="52303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rastro  —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de decisões e o painel web — a parte que vocês levarão para o comitê.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59552" y="5376672"/>
            <a:ext cx="2231136" cy="402336"/>
          </a:xfrm>
          <a:prstGeom prst="roundRect">
            <a:avLst>
              <a:gd name="adj" fmla="val 15909"/>
            </a:avLst>
          </a:prstGeom>
          <a:solidFill>
            <a:srgbClr val="0C3140"/>
          </a:solidFill>
          <a:ln/>
        </p:spPr>
      </p:sp>
      <p:sp>
        <p:nvSpPr>
          <p:cNvPr id="24" name="Text 22"/>
          <p:cNvSpPr/>
          <p:nvPr/>
        </p:nvSpPr>
        <p:spPr>
          <a:xfrm>
            <a:off x="5687568" y="5376672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cstk serve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1353312"/>
            <a:ext cx="3410712" cy="1188720"/>
          </a:xfrm>
          <a:prstGeom prst="roundRect">
            <a:avLst>
              <a:gd name="adj" fmla="val 5385"/>
            </a:avLst>
          </a:prstGeom>
          <a:solidFill>
            <a:srgbClr val="0C3140"/>
          </a:solidFill>
          <a:ln/>
        </p:spPr>
      </p:sp>
      <p:sp>
        <p:nvSpPr>
          <p:cNvPr id="26" name="Shape 24"/>
          <p:cNvSpPr/>
          <p:nvPr/>
        </p:nvSpPr>
        <p:spPr>
          <a:xfrm>
            <a:off x="8449056" y="1627632"/>
            <a:ext cx="475488" cy="475488"/>
          </a:xfrm>
          <a:prstGeom prst="ellipse">
            <a:avLst/>
          </a:prstGeom>
          <a:solidFill>
            <a:srgbClr val="104054"/>
          </a:solidFill>
          <a:ln/>
        </p:spPr>
      </p:sp>
      <p:pic>
        <p:nvPicPr>
          <p:cNvPr id="27" name="Image 0" descr="/home/claude/deck/icons/clo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3173" y="1741749"/>
            <a:ext cx="247254" cy="24725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070848" y="1517904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 minutos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agente rodando de verdade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29600" y="2697480"/>
            <a:ext cx="3410712" cy="1554480"/>
          </a:xfrm>
          <a:prstGeom prst="roundRect">
            <a:avLst>
              <a:gd name="adj" fmla="val 4118"/>
            </a:avLst>
          </a:prstGeom>
          <a:solidFill>
            <a:srgbClr val="F9EFDC"/>
          </a:solidFill>
          <a:ln/>
        </p:spPr>
      </p:sp>
      <p:sp>
        <p:nvSpPr>
          <p:cNvPr id="30" name="Text 27"/>
          <p:cNvSpPr/>
          <p:nvPr/>
        </p:nvSpPr>
        <p:spPr>
          <a:xfrm>
            <a:off x="8449056" y="28346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vivo, agente real</a:t>
            </a:r>
            <a:endParaRPr lang="en-US" sz="120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roteiro é o mapa, não a promessa: pausas e perguntas inesperadas fazem parte — e mostram o método funcionando.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29600" y="4407408"/>
            <a:ext cx="3410712" cy="1554480"/>
          </a:xfrm>
          <a:prstGeom prst="roundRect">
            <a:avLst>
              <a:gd name="adj" fmla="val 4118"/>
            </a:avLst>
          </a:prstGeom>
          <a:solidFill>
            <a:srgbClr val="EAF2F5"/>
          </a:solidFill>
          <a:ln/>
        </p:spPr>
      </p:sp>
      <p:sp>
        <p:nvSpPr>
          <p:cNvPr id="32" name="Text 29"/>
          <p:cNvSpPr/>
          <p:nvPr/>
        </p:nvSpPr>
        <p:spPr>
          <a:xfrm>
            <a:off x="8449056" y="454456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0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durante a demo</a:t>
            </a:r>
            <a:endParaRPr lang="en-US" sz="120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opero e narro; vocês observam com o checklist do próximo slide — e anotam perguntas para o final.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Enquanto a demo roda, observe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4415" cy="804672"/>
          </a:xfrm>
          <a:prstGeom prst="roundRect">
            <a:avLst>
              <a:gd name="adj" fmla="val 7955"/>
            </a:avLst>
          </a:prstGeom>
          <a:solidFill>
            <a:srgbClr val="EAF2F5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58191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deck/icons/message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925" y="1696029"/>
            <a:ext cx="247254" cy="2472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72184"/>
            <a:ext cx="9951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que o agente NÃO fez  —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briefing já as respondeu — a economia silenciosa da entrada bem-feita.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11094415" cy="804672"/>
          </a:xfrm>
          <a:prstGeom prst="roundRect">
            <a:avLst>
              <a:gd name="adj" fmla="val 7955"/>
            </a:avLst>
          </a:prstGeom>
          <a:solidFill>
            <a:srgbClr val="EAF2F5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49631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deck/icons/list-checks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25" y="2610429"/>
            <a:ext cx="247254" cy="247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386584"/>
            <a:ext cx="9951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com justificativa  —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avança por “achismo”: escolha registrada, alternativa descartada, motivo escrito.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11094415" cy="804672"/>
          </a:xfrm>
          <a:prstGeom prst="roundRect">
            <a:avLst>
              <a:gd name="adj" fmla="val 7955"/>
            </a:avLst>
          </a:prstGeom>
          <a:solidFill>
            <a:srgbClr val="EAF2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41071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deck/icons/shield-check-petr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5" y="3524829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00984"/>
            <a:ext cx="9951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gates depois de cada artefato  —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validada e segurança revisada antes de a próxima etapa começar.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160520"/>
            <a:ext cx="11094415" cy="804672"/>
          </a:xfrm>
          <a:prstGeom prst="roundRect">
            <a:avLst>
              <a:gd name="adj" fmla="val 7955"/>
            </a:avLst>
          </a:prstGeom>
          <a:solidFill>
            <a:srgbClr val="F9EFDC"/>
          </a:solidFill>
          <a:ln/>
        </p:spPr>
      </p:sp>
      <p:sp>
        <p:nvSpPr>
          <p:cNvPr id="19" name="Shape 14"/>
          <p:cNvSpPr/>
          <p:nvPr/>
        </p:nvSpPr>
        <p:spPr>
          <a:xfrm>
            <a:off x="749808" y="432511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deck/icons/pause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25" y="4439229"/>
            <a:ext cx="247254" cy="2472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215384"/>
            <a:ext cx="9951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9C6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pausa de bloqueio  —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não é descontrole: efeito colateral pede humano — e a execução espera.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5074920"/>
            <a:ext cx="11094415" cy="804672"/>
          </a:xfrm>
          <a:prstGeom prst="roundRect">
            <a:avLst>
              <a:gd name="adj" fmla="val 7955"/>
            </a:avLst>
          </a:prstGeom>
          <a:solidFill>
            <a:srgbClr val="EAF2F5"/>
          </a:solidFill>
          <a:ln/>
        </p:spPr>
      </p:sp>
      <p:sp>
        <p:nvSpPr>
          <p:cNvPr id="23" name="Shape 17"/>
          <p:cNvSpPr/>
          <p:nvPr/>
        </p:nvSpPr>
        <p:spPr>
          <a:xfrm>
            <a:off x="749808" y="523951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/home/claude/deck/icons/file-check-petr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25" y="5353629"/>
            <a:ext cx="247254" cy="24725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5129784"/>
            <a:ext cx="9951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final  —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auditável completa — o documento que sustenta a conversa com o comitê.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começar na segunda-feira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3291840"/>
          </a:xfrm>
          <a:prstGeom prst="roundRect">
            <a:avLst>
              <a:gd name="adj" fmla="val 1944"/>
            </a:avLst>
          </a:prstGeom>
          <a:solidFill>
            <a:srgbClr val="EAF2F5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55448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6384" y="195681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deck/icons/bot-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2053377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312" y="1938528"/>
            <a:ext cx="28895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Claude com Claude Code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de IA que executa o toolkit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6384" y="285292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deck/icons/terminal-pe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949489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53312" y="2834640"/>
            <a:ext cx="28895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 gh instalados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versão — TI resolve em minutos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6384" y="374904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deck/icons/package-petr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3845601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3730752"/>
            <a:ext cx="28895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(opcional)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se o projeto usar containers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754880" y="1371600"/>
            <a:ext cx="6888175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5875">
            <a:solidFill>
              <a:srgbClr val="DCE9E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864608" y="14813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5486400" y="1481328"/>
            <a:ext cx="5973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(uma vez por máquina)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0" y="1810512"/>
            <a:ext cx="5928055" cy="365760"/>
          </a:xfrm>
          <a:prstGeom prst="roundRect">
            <a:avLst>
              <a:gd name="adj" fmla="val 17500"/>
            </a:avLst>
          </a:prstGeom>
          <a:solidFill>
            <a:srgbClr val="0C3140"/>
          </a:solidFill>
          <a:ln/>
        </p:spPr>
      </p:sp>
      <p:sp>
        <p:nvSpPr>
          <p:cNvPr id="21" name="Text 16"/>
          <p:cNvSpPr/>
          <p:nvPr/>
        </p:nvSpPr>
        <p:spPr>
          <a:xfrm>
            <a:off x="5614416" y="1810512"/>
            <a:ext cx="5672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https://github.com/JotJunior/cstk/releases/latest/download/install.sh | sh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486400" y="2231136"/>
            <a:ext cx="2011680" cy="329184"/>
          </a:xfrm>
          <a:prstGeom prst="roundRect">
            <a:avLst>
              <a:gd name="adj" fmla="val 19444"/>
            </a:avLst>
          </a:prstGeom>
          <a:solidFill>
            <a:srgbClr val="0C3140"/>
          </a:solidFill>
          <a:ln/>
        </p:spPr>
      </p:sp>
      <p:sp>
        <p:nvSpPr>
          <p:cNvPr id="23" name="Text 18"/>
          <p:cNvSpPr/>
          <p:nvPr/>
        </p:nvSpPr>
        <p:spPr>
          <a:xfrm>
            <a:off x="5614416" y="22311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cstk install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635240" y="2231136"/>
            <a:ext cx="3870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o perfil padrão de skills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54880" y="2834640"/>
            <a:ext cx="6888175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DCE9E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64608" y="29443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5486400" y="2907792"/>
            <a:ext cx="5973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Aqueça na trilha básica  —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soltas, sem orquestrador: “especifica essa feature...”, “revisa a segurança deste código”, “me aconselhe sobre este plano”.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4754880" y="3931920"/>
            <a:ext cx="6888175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875">
            <a:solidFill>
              <a:srgbClr val="DCE9E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64608" y="4041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5486400" y="4005072"/>
            <a:ext cx="35963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POC com o agente-00c  —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preenchido no template + escopo de 3 a 5 funcionalidades. Reserve um período com pausas respondidas na hora.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9128455" y="4215384"/>
            <a:ext cx="2377440" cy="365760"/>
          </a:xfrm>
          <a:prstGeom prst="roundRect">
            <a:avLst>
              <a:gd name="adj" fmla="val 17500"/>
            </a:avLst>
          </a:prstGeom>
          <a:solidFill>
            <a:srgbClr val="0C3140"/>
          </a:solidFill>
          <a:ln/>
        </p:spPr>
      </p:sp>
      <p:sp>
        <p:nvSpPr>
          <p:cNvPr id="32" name="Text 27"/>
          <p:cNvSpPr/>
          <p:nvPr/>
        </p:nvSpPr>
        <p:spPr>
          <a:xfrm>
            <a:off x="9256471" y="421538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cstk 00c ~/projetos/primeira-poc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548640" y="4892040"/>
            <a:ext cx="11094415" cy="1170432"/>
          </a:xfrm>
          <a:prstGeom prst="roundRect">
            <a:avLst>
              <a:gd name="adj" fmla="val 5469"/>
            </a:avLst>
          </a:prstGeom>
          <a:solidFill>
            <a:srgbClr val="0C3140"/>
          </a:solidFill>
          <a:ln/>
        </p:spPr>
      </p:sp>
      <p:sp>
        <p:nvSpPr>
          <p:cNvPr id="34" name="Shape 29"/>
          <p:cNvSpPr/>
          <p:nvPr/>
        </p:nvSpPr>
        <p:spPr>
          <a:xfrm>
            <a:off x="804672" y="5138928"/>
            <a:ext cx="548640" cy="548640"/>
          </a:xfrm>
          <a:prstGeom prst="ellipse">
            <a:avLst/>
          </a:prstGeom>
          <a:solidFill>
            <a:srgbClr val="104054"/>
          </a:solidFill>
          <a:ln/>
        </p:spPr>
      </p:sp>
      <p:pic>
        <p:nvPicPr>
          <p:cNvPr id="35" name="Image 3" descr="/home/claude/deck/icons/book-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5270602"/>
            <a:ext cx="285293" cy="28529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517904" y="502920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open source (MIT):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09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github.com/JotJunior/cstk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documentação completa: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09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jotjunior.github.io/cstk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pela trilha básica; adote o orquestrador quando quiser o ciclo inteiro rodando sozinho.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seis práticas de quem opera bem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EAF2F5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68096" y="2258568"/>
            <a:ext cx="31272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antes da ferramenta</a:t>
            </a:r>
            <a:endParaRPr lang="en-US" sz="12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o template com calma, em equipe. A qualidade da entrada define o custo da saída.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41732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EAF2F5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35424" y="2258568"/>
            <a:ext cx="31272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fora-de-escopo</a:t>
            </a:r>
            <a:endParaRPr lang="en-US" sz="12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 que NÃO fazer é o freio mais barato do projeto — e o mais esquecido.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41732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EAF2F5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02752" y="2258568"/>
            <a:ext cx="31272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pequeno</a:t>
            </a:r>
            <a:endParaRPr lang="en-US" sz="12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 3 a 5 funcionalidades. Cresça por incrementos, um feature-00c por vez.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EAF2F5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68096" y="4544568"/>
            <a:ext cx="31272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pausas rápido</a:t>
            </a:r>
            <a:endParaRPr lang="en-US" sz="12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latência humana soma no relógio: no caso difícil, chegou a ~50 minutos por pausa.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15968" y="370332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EAF2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35424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35424" y="4544568"/>
            <a:ext cx="31272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relatório de decisões</a:t>
            </a:r>
            <a:endParaRPr lang="en-US" sz="12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é escrito para você, não para programadores. É onde a governança acontece.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83296" y="3703320"/>
            <a:ext cx="3566160" cy="2084832"/>
          </a:xfrm>
          <a:prstGeom prst="roundRect">
            <a:avLst>
              <a:gd name="adj" fmla="val 3070"/>
            </a:avLst>
          </a:prstGeom>
          <a:solidFill>
            <a:srgbClr val="EAF2F5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02752" y="4544568"/>
            <a:ext cx="31272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1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Envolva o time de TI cedo</a:t>
            </a:r>
            <a:endParaRPr lang="en-US" sz="125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evolução, escala e produção pedem análise técnica contínua — compartilhe o dossiê desde a POC.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3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01368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54096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306824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59552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65008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17736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70464" y="5989320"/>
            <a:ext cx="1170432" cy="365760"/>
          </a:xfrm>
          <a:prstGeom prst="chevron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6858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0058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mensagens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965960"/>
            <a:ext cx="11091672" cy="950976"/>
          </a:xfrm>
          <a:prstGeom prst="roundRect">
            <a:avLst>
              <a:gd name="adj" fmla="val 6731"/>
            </a:avLst>
          </a:prstGeom>
          <a:solidFill>
            <a:srgbClr val="10405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093976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2057400"/>
            <a:ext cx="9875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conhecimento do negócio prova o conceito.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com riqueza e a POC acontece — validando a ideia e a necessidade antes do grande investimento. Evolução e escala, com o time de TI ao lado.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11091672" cy="950976"/>
          </a:xfrm>
          <a:prstGeom prst="roundRect">
            <a:avLst>
              <a:gd name="adj" fmla="val 6731"/>
            </a:avLst>
          </a:prstGeom>
          <a:solidFill>
            <a:srgbClr val="10405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72968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08760" y="3136392"/>
            <a:ext cx="9875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delimitado separa horas de semanas.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“Fora de escopo” é decisão estratégica: é ela que mantém o agente rendendo e o orçamento em pé.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11091672" cy="950976"/>
          </a:xfrm>
          <a:prstGeom prst="roundRect">
            <a:avLst>
              <a:gd name="adj" fmla="val 6731"/>
            </a:avLst>
          </a:prstGeom>
          <a:solidFill>
            <a:srgbClr val="10405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5196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08760" y="4215384"/>
            <a:ext cx="9875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documentado, seguro e auditável.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e LGPD de nascença; cada decisão com justificativa e proveniência. Confiança se verifica — não se pede.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pPr indent="0" marL="0">
              <a:buNone/>
            </a:pPr>
            <a:r>
              <a:rPr lang="en-US" sz="1300" dirty="0">
                <a:solidFill>
                  <a:srgbClr val="CF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primeira POC acompanhada — traga um problema real e um briefing preenchido.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7607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github.com/JotJunior/cstk   ·   jotjunior.github.io/cstk   ·   jot@jot.com.br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CSTK — Treinamento executivo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94415" y="6510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CSTK — Treinamento executivo</dc:title>
  <dc:subject>PptxGenJS Presentation</dc:subject>
  <dc:creator>Jot Junior</dc:creator>
  <cp:lastModifiedBy>Jot Junior</cp:lastModifiedBy>
  <cp:revision>1</cp:revision>
  <dcterms:created xsi:type="dcterms:W3CDTF">2026-07-13T15:43:48Z</dcterms:created>
  <dcterms:modified xsi:type="dcterms:W3CDTF">2026-07-13T15:43:48Z</dcterms:modified>
</cp:coreProperties>
</file>